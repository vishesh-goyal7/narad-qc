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D7DA50-C0B0-4372-BF1C-1194A55897D8}" v="3655" dt="2026-07-09T22:21:19.691"/>
    <p1510:client id="{C15F3EBA-AAD6-4D6A-8219-C8D5B84AFA2E}" v="10" dt="2026-07-09T23:02:24.1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visheshverse.co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visheshverse.com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visheshverse.com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visheshverse.com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visheshverse.com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visheshverse.com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visheshverse.com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visheshverse.com" TargetMode="Externa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0" name="Rectangle 79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800" kern="1200">
                <a:latin typeface="Times New Roman"/>
                <a:cs typeface="Times New Roman"/>
              </a:rPr>
              <a:t>NARAD - QC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7981" y="4872922"/>
            <a:ext cx="3933306" cy="120814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2000" kern="1200">
                <a:latin typeface="Times New Roman"/>
                <a:cs typeface="Times New Roman"/>
              </a:rPr>
              <a:t>Network Architecture for  Routing, Authentication and Delivery in Quantum Communications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2C6C9A-FF1B-0F73-43A8-BBEDF7A80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2908" y="625683"/>
            <a:ext cx="5929762" cy="54553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47F7554-9541-DADA-3D00-7F351E5B32A9}"/>
              </a:ext>
            </a:extLst>
          </p:cNvPr>
          <p:cNvSpPr txBox="1"/>
          <p:nvPr/>
        </p:nvSpPr>
        <p:spPr>
          <a:xfrm>
            <a:off x="9132186" y="6320464"/>
            <a:ext cx="379227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600"/>
              </a:spcAft>
            </a:pPr>
            <a:r>
              <a:rPr lang="en-US">
                <a:latin typeface="Times New Roman"/>
                <a:cs typeface="Times New Roman"/>
              </a:rPr>
              <a:t>Vishesh Goyal - </a:t>
            </a:r>
            <a:r>
              <a:rPr lang="en-US" dirty="0">
                <a:latin typeface="Times New Roman"/>
                <a:cs typeface="Times New Roman"/>
                <a:hlinkClick r:id="rId3"/>
              </a:rPr>
              <a:t>VisheshVerse</a:t>
            </a:r>
            <a:endParaRPr lang="en-US">
              <a:latin typeface="Times New Roman"/>
              <a:cs typeface="Times New Roman"/>
              <a:hlinkClick r:id="rId3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DE9A8-6798-32BB-B55C-7F4419FC7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/>
                <a:cs typeface="Times New Roman"/>
              </a:rPr>
              <a:t>The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2B8D3-665F-9735-A882-34F2649B2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>
                <a:latin typeface="Times New Roman"/>
                <a:cs typeface="Times New Roman"/>
              </a:rPr>
              <a:t>Using the quantum repeaters, we can increase the distance between two users for the QKD to be successful.</a:t>
            </a:r>
            <a:endParaRPr lang="en-US" sz="2400" dirty="0">
              <a:latin typeface="Times New Roman"/>
              <a:cs typeface="Times New Roman"/>
            </a:endParaRPr>
          </a:p>
          <a:p>
            <a:endParaRPr lang="en-US" sz="2400" dirty="0">
              <a:latin typeface="Times New Roman"/>
              <a:cs typeface="Times New Roman"/>
            </a:endParaRPr>
          </a:p>
          <a:p>
            <a:pPr marL="0" indent="0" algn="ctr">
              <a:buNone/>
            </a:pPr>
            <a:r>
              <a:rPr lang="en-US" sz="4000">
                <a:latin typeface="Times New Roman"/>
                <a:cs typeface="Times New Roman"/>
              </a:rPr>
              <a:t>BUT</a:t>
            </a:r>
            <a:endParaRPr lang="en-US" sz="4000" dirty="0">
              <a:latin typeface="Times New Roman"/>
              <a:cs typeface="Times New Roman"/>
            </a:endParaRPr>
          </a:p>
          <a:p>
            <a:endParaRPr lang="en-US" sz="2400" dirty="0">
              <a:latin typeface="Times New Roman"/>
              <a:cs typeface="Times New Roman"/>
            </a:endParaRPr>
          </a:p>
          <a:p>
            <a:r>
              <a:rPr lang="en-US" sz="2400">
                <a:latin typeface="Times New Roman"/>
                <a:cs typeface="Times New Roman"/>
              </a:rPr>
              <a:t>What happens if there are multiple repeaters? Multiple chains? Multiple pathways?</a:t>
            </a:r>
            <a:endParaRPr lang="en-US" sz="2400" dirty="0">
              <a:latin typeface="Times New Roman"/>
              <a:cs typeface="Times New Roman"/>
            </a:endParaRPr>
          </a:p>
          <a:p>
            <a:r>
              <a:rPr lang="en-US" sz="2400" dirty="0">
                <a:latin typeface="Times New Roman"/>
                <a:cs typeface="Times New Roman"/>
              </a:rPr>
              <a:t>So, which repeaters can be trusted? Which pathway would be most eff</a:t>
            </a:r>
            <a:r>
              <a:rPr lang="en-US" sz="2400">
                <a:latin typeface="Times New Roman"/>
                <a:cs typeface="Times New Roman"/>
              </a:rPr>
              <a:t>icient?</a:t>
            </a:r>
            <a:endParaRPr lang="en-US" sz="2400" dirty="0">
              <a:latin typeface="Times New Roman"/>
              <a:cs typeface="Times New Roman"/>
            </a:endParaRPr>
          </a:p>
          <a:p>
            <a:r>
              <a:rPr lang="en-US" sz="2400" dirty="0">
                <a:latin typeface="Times New Roman"/>
                <a:cs typeface="Times New Roman"/>
              </a:rPr>
              <a:t>How do we decide which is the most efficie</a:t>
            </a:r>
            <a:r>
              <a:rPr lang="en-US" sz="2400">
                <a:latin typeface="Times New Roman"/>
                <a:cs typeface="Times New Roman"/>
              </a:rPr>
              <a:t>nt pathway?</a:t>
            </a:r>
            <a:endParaRPr lang="en-US" sz="2400" dirty="0">
              <a:latin typeface="Times New Roman"/>
              <a:cs typeface="Times New Roman"/>
            </a:endParaRPr>
          </a:p>
          <a:p>
            <a:pPr marL="0" indent="0" algn="ctr">
              <a:buNone/>
            </a:pPr>
            <a:endParaRPr lang="en-US" sz="4000" dirty="0">
              <a:latin typeface="Times New Roman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CDDCFB-7245-7779-2A3E-DEABA2917F9E}"/>
              </a:ext>
            </a:extLst>
          </p:cNvPr>
          <p:cNvSpPr txBox="1"/>
          <p:nvPr/>
        </p:nvSpPr>
        <p:spPr>
          <a:xfrm>
            <a:off x="9132186" y="6320464"/>
            <a:ext cx="379227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Times New Roman"/>
                <a:cs typeface="Times New Roman"/>
              </a:rPr>
              <a:t>Vishesh Goyal - </a:t>
            </a:r>
            <a:r>
              <a:rPr lang="en-US" dirty="0">
                <a:latin typeface="Times New Roman"/>
                <a:cs typeface="Times New Roman"/>
                <a:hlinkClick r:id="rId2"/>
              </a:rPr>
              <a:t>VisheshVerse</a:t>
            </a:r>
          </a:p>
        </p:txBody>
      </p:sp>
    </p:spTree>
    <p:extLst>
      <p:ext uri="{BB962C8B-B14F-4D97-AF65-F5344CB8AC3E}">
        <p14:creationId xmlns:p14="http://schemas.microsoft.com/office/powerpoint/2010/main" val="2085843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486EB-5649-1FB1-3BD1-945435945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/>
                <a:ea typeface="Calibri"/>
                <a:cs typeface="Times New Roman"/>
              </a:rPr>
              <a:t>The Proposed Solution – </a:t>
            </a:r>
            <a:r>
              <a:rPr lang="en-US" dirty="0">
                <a:latin typeface="Times New Roman"/>
                <a:ea typeface="Calibri"/>
                <a:cs typeface="Times New Roman"/>
              </a:rPr>
              <a:t>NARAD-QC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F65FE-5F2E-9BB1-BE8A-C54377DAE5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arabicPeriod"/>
            </a:pPr>
            <a:r>
              <a:rPr lang="en-US" dirty="0">
                <a:latin typeface="Times New Roman"/>
                <a:ea typeface="Calibri"/>
                <a:cs typeface="Times New Roman"/>
              </a:rPr>
              <a:t>Use a classical channel over the quantum channel just to decide which is the authenticated and most efficient channel for the qubits to survi</a:t>
            </a:r>
            <a:r>
              <a:rPr lang="en-US">
                <a:latin typeface="Times New Roman"/>
                <a:ea typeface="Calibri"/>
                <a:cs typeface="Times New Roman"/>
              </a:rPr>
              <a:t>ve. </a:t>
            </a:r>
            <a:endParaRPr lang="en-US"/>
          </a:p>
          <a:p>
            <a:pPr marL="514350" indent="-514350">
              <a:buAutoNum type="arabicPeriod"/>
            </a:pPr>
            <a:r>
              <a:rPr lang="en-US" dirty="0">
                <a:latin typeface="Times New Roman"/>
                <a:ea typeface="Calibri"/>
                <a:cs typeface="Times New Roman"/>
              </a:rPr>
              <a:t>Use quantum repeaters as channel nodes to establish a topology of </a:t>
            </a:r>
            <a:r>
              <a:rPr lang="en-US">
                <a:latin typeface="Times New Roman"/>
                <a:ea typeface="Calibri"/>
                <a:cs typeface="Times New Roman"/>
              </a:rPr>
              <a:t>network for the entanglement to be created more efficiently.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FD4147-6B34-22BD-622A-000F9F653E13}"/>
              </a:ext>
            </a:extLst>
          </p:cNvPr>
          <p:cNvSpPr txBox="1"/>
          <p:nvPr/>
        </p:nvSpPr>
        <p:spPr>
          <a:xfrm>
            <a:off x="9132186" y="6320464"/>
            <a:ext cx="379227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Times New Roman"/>
                <a:cs typeface="Times New Roman"/>
              </a:rPr>
              <a:t>Vishesh Goyal - </a:t>
            </a:r>
            <a:r>
              <a:rPr lang="en-US" dirty="0">
                <a:latin typeface="Times New Roman"/>
                <a:cs typeface="Times New Roman"/>
                <a:hlinkClick r:id="rId2"/>
              </a:rPr>
              <a:t>VisheshVerse</a:t>
            </a:r>
          </a:p>
        </p:txBody>
      </p:sp>
    </p:spTree>
    <p:extLst>
      <p:ext uri="{BB962C8B-B14F-4D97-AF65-F5344CB8AC3E}">
        <p14:creationId xmlns:p14="http://schemas.microsoft.com/office/powerpoint/2010/main" val="2007862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B0EEE-30F0-656B-69BC-C13D701AD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3E694-6D3E-0472-2D6A-879C6717D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Calibri"/>
                <a:cs typeface="Times New Roman"/>
              </a:rPr>
              <a:t>The Proces</a:t>
            </a:r>
            <a:r>
              <a:rPr lang="en-US">
                <a:latin typeface="Times New Roman"/>
                <a:ea typeface="Calibri"/>
                <a:cs typeface="Times New Roman"/>
              </a:rPr>
              <a:t>s of NARAD-QC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4F80F-96D7-22FC-C8F1-178F631511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514350" indent="-514350">
              <a:buAutoNum type="arabicPeriod"/>
            </a:pPr>
            <a:r>
              <a:rPr lang="en-US" sz="2400" dirty="0">
                <a:latin typeface="Times New Roman"/>
                <a:ea typeface="Calibri"/>
                <a:cs typeface="Times New Roman"/>
              </a:rPr>
              <a:t>The user Alice initi</a:t>
            </a:r>
            <a:r>
              <a:rPr lang="en-US" sz="2400">
                <a:latin typeface="Times New Roman"/>
                <a:ea typeface="Calibri"/>
                <a:cs typeface="Times New Roman"/>
              </a:rPr>
              <a:t>ates by telling the classical channel that she wishes to communicate with Bob.</a:t>
            </a:r>
            <a:endParaRPr lang="en-US" sz="2400" dirty="0">
              <a:latin typeface="Times New Roman"/>
              <a:ea typeface="Calibri"/>
              <a:cs typeface="Times New Roman"/>
            </a:endParaRPr>
          </a:p>
          <a:p>
            <a:pPr marL="514350" indent="-514350">
              <a:buAutoNum type="arabicPeriod"/>
            </a:pPr>
            <a:r>
              <a:rPr lang="en-US" sz="2400">
                <a:latin typeface="Times New Roman"/>
                <a:ea typeface="Calibri"/>
                <a:cs typeface="Times New Roman"/>
              </a:rPr>
              <a:t>The channel authenticates Alice and Bob as the user. </a:t>
            </a:r>
            <a:endParaRPr lang="en-US" sz="2400" dirty="0">
              <a:latin typeface="Times New Roman"/>
              <a:ea typeface="Calibri"/>
              <a:cs typeface="Times New Roman"/>
            </a:endParaRPr>
          </a:p>
          <a:p>
            <a:pPr marL="514350" indent="-514350">
              <a:buAutoNum type="arabicPeriod"/>
            </a:pPr>
            <a:r>
              <a:rPr lang="en-US" sz="2400" dirty="0">
                <a:latin typeface="Times New Roman"/>
                <a:ea typeface="Calibri"/>
                <a:cs typeface="Times New Roman"/>
              </a:rPr>
              <a:t>Then, it searches the entire topology of quantum repeaters authenticating each repeater in the process and deciding which is the most efficient channel to create the </a:t>
            </a:r>
            <a:r>
              <a:rPr lang="en-US" sz="2400">
                <a:latin typeface="Times New Roman"/>
                <a:ea typeface="Calibri"/>
                <a:cs typeface="Times New Roman"/>
              </a:rPr>
              <a:t>entanglement. </a:t>
            </a:r>
            <a:endParaRPr lang="en-US" sz="2400" dirty="0">
              <a:latin typeface="Times New Roman"/>
              <a:ea typeface="Calibri"/>
              <a:cs typeface="Times New Roman"/>
            </a:endParaRPr>
          </a:p>
          <a:p>
            <a:pPr marL="514350" indent="-514350">
              <a:buAutoNum type="arabicPeriod"/>
            </a:pPr>
            <a:r>
              <a:rPr lang="en-US" sz="2400">
                <a:latin typeface="Times New Roman"/>
                <a:ea typeface="Calibri"/>
                <a:cs typeface="Times New Roman"/>
              </a:rPr>
              <a:t>The parameters used for deciding the channel :</a:t>
            </a:r>
            <a:endParaRPr lang="en-US" sz="2400" dirty="0">
              <a:latin typeface="Times New Roman"/>
              <a:ea typeface="Calibri"/>
              <a:cs typeface="Times New Roman"/>
            </a:endParaRPr>
          </a:p>
          <a:p>
            <a:pPr marL="971550" lvl="1" indent="-514350">
              <a:buAutoNum type="arabicPeriod"/>
            </a:pPr>
            <a:r>
              <a:rPr lang="en-US" sz="2000">
                <a:latin typeface="Times New Roman"/>
                <a:cs typeface="Times New Roman"/>
              </a:rPr>
              <a:t>Low QBER</a:t>
            </a:r>
            <a:endParaRPr lang="en-US" sz="2000" dirty="0">
              <a:latin typeface="Times New Roman"/>
              <a:cs typeface="Times New Roman"/>
            </a:endParaRPr>
          </a:p>
          <a:p>
            <a:pPr marL="971550" lvl="1" indent="-514350">
              <a:buAutoNum type="arabicPeriod"/>
            </a:pPr>
            <a:r>
              <a:rPr lang="en-US" sz="2000">
                <a:latin typeface="Times New Roman"/>
                <a:cs typeface="Times New Roman"/>
              </a:rPr>
              <a:t>Key generation latency</a:t>
            </a:r>
            <a:endParaRPr lang="en-US" sz="2000" dirty="0">
              <a:latin typeface="Times New Roman"/>
              <a:cs typeface="Times New Roman"/>
            </a:endParaRPr>
          </a:p>
          <a:p>
            <a:pPr marL="971550" lvl="1" indent="-514350">
              <a:buAutoNum type="arabicPeriod"/>
            </a:pPr>
            <a:r>
              <a:rPr lang="en-US" sz="2000">
                <a:latin typeface="Times New Roman"/>
                <a:cs typeface="Times New Roman"/>
              </a:rPr>
              <a:t>Number of repeater hops</a:t>
            </a:r>
            <a:endParaRPr lang="en-US" sz="2000" dirty="0">
              <a:latin typeface="Times New Roman"/>
              <a:cs typeface="Times New Roman"/>
            </a:endParaRPr>
          </a:p>
          <a:p>
            <a:pPr marL="971550" lvl="1" indent="-514350">
              <a:buAutoNum type="arabicPeriod"/>
            </a:pPr>
            <a:r>
              <a:rPr lang="en-US" sz="2000" dirty="0">
                <a:latin typeface="Times New Roman"/>
                <a:cs typeface="Times New Roman"/>
              </a:rPr>
              <a:t>Link success probabi</a:t>
            </a:r>
            <a:r>
              <a:rPr lang="en-US" sz="2000">
                <a:latin typeface="Times New Roman"/>
                <a:cs typeface="Times New Roman"/>
              </a:rPr>
              <a:t>lity</a:t>
            </a:r>
            <a:endParaRPr lang="en-US" sz="2000" dirty="0">
              <a:latin typeface="Times New Roman"/>
              <a:cs typeface="Times New Roman"/>
            </a:endParaRPr>
          </a:p>
          <a:p>
            <a:pPr marL="971550" lvl="1" indent="-514350">
              <a:buAutoNum type="arabicPeriod"/>
            </a:pPr>
            <a:r>
              <a:rPr lang="en-US" sz="2000">
                <a:latin typeface="Times New Roman"/>
                <a:cs typeface="Times New Roman"/>
              </a:rPr>
              <a:t>Least distance possible</a:t>
            </a:r>
            <a:endParaRPr lang="en-US" sz="2000" dirty="0">
              <a:latin typeface="Times New Roman"/>
              <a:cs typeface="Times New Roman"/>
            </a:endParaRPr>
          </a:p>
          <a:p>
            <a:pPr marL="971550" lvl="1" indent="-514350">
              <a:buAutoNum type="arabicPeriod"/>
            </a:pPr>
            <a:r>
              <a:rPr lang="en-US" sz="2000" dirty="0">
                <a:latin typeface="Times New Roman"/>
                <a:cs typeface="Times New Roman"/>
              </a:rPr>
              <a:t>Least time requ</a:t>
            </a:r>
            <a:r>
              <a:rPr lang="en-US" sz="2000">
                <a:latin typeface="Times New Roman"/>
                <a:cs typeface="Times New Roman"/>
              </a:rPr>
              <a:t>ired</a:t>
            </a:r>
            <a:endParaRPr lang="en-US" sz="2000" dirty="0">
              <a:latin typeface="Times New Roman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EABD55-DF2F-11A5-1102-42B1609FA006}"/>
              </a:ext>
            </a:extLst>
          </p:cNvPr>
          <p:cNvSpPr txBox="1"/>
          <p:nvPr/>
        </p:nvSpPr>
        <p:spPr>
          <a:xfrm>
            <a:off x="9132186" y="6320464"/>
            <a:ext cx="379227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Times New Roman"/>
                <a:cs typeface="Times New Roman"/>
              </a:rPr>
              <a:t>Vishesh Goyal - </a:t>
            </a:r>
            <a:r>
              <a:rPr lang="en-US" dirty="0">
                <a:latin typeface="Times New Roman"/>
                <a:cs typeface="Times New Roman"/>
                <a:hlinkClick r:id="rId2"/>
              </a:rPr>
              <a:t>VisheshVerse</a:t>
            </a:r>
          </a:p>
        </p:txBody>
      </p:sp>
    </p:spTree>
    <p:extLst>
      <p:ext uri="{BB962C8B-B14F-4D97-AF65-F5344CB8AC3E}">
        <p14:creationId xmlns:p14="http://schemas.microsoft.com/office/powerpoint/2010/main" val="3915142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6747D-4E5D-6E4B-DA70-AB3041B22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81A2F-D137-6D32-F2BB-99B67AA58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/>
                <a:ea typeface="Calibri"/>
                <a:cs typeface="Times New Roman"/>
              </a:rPr>
              <a:t>The Final Expected Model of NARAD-QC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42778-24B2-B082-1239-EC3E0CFD69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3600">
                <a:latin typeface="Times New Roman"/>
                <a:ea typeface="+mn-lt"/>
                <a:cs typeface="Times New Roman"/>
              </a:rPr>
              <a:t>NARAD-QC becomes a small quantum-secure communication network simulator. </a:t>
            </a:r>
            <a:endParaRPr lang="en-US" sz="3600" dirty="0">
              <a:latin typeface="Times New Roman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EEE65E-0874-0570-A2A2-FE64A5768E4C}"/>
              </a:ext>
            </a:extLst>
          </p:cNvPr>
          <p:cNvSpPr txBox="1"/>
          <p:nvPr/>
        </p:nvSpPr>
        <p:spPr>
          <a:xfrm>
            <a:off x="9132186" y="6320464"/>
            <a:ext cx="379227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Times New Roman"/>
                <a:cs typeface="Times New Roman"/>
              </a:rPr>
              <a:t>Vishesh Goyal - </a:t>
            </a:r>
            <a:r>
              <a:rPr lang="en-US" dirty="0">
                <a:latin typeface="Times New Roman"/>
                <a:cs typeface="Times New Roman"/>
                <a:hlinkClick r:id="rId2"/>
              </a:rPr>
              <a:t>VisheshVerse</a:t>
            </a:r>
          </a:p>
        </p:txBody>
      </p:sp>
    </p:spTree>
    <p:extLst>
      <p:ext uri="{BB962C8B-B14F-4D97-AF65-F5344CB8AC3E}">
        <p14:creationId xmlns:p14="http://schemas.microsoft.com/office/powerpoint/2010/main" val="1914258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27505-C790-4463-FA21-250085DD7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9BEEB-83B9-8765-B84B-F3625EB31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/>
                <a:ea typeface="Calibri"/>
                <a:cs typeface="Times New Roman"/>
              </a:rPr>
              <a:t>The Phase Plan NARAD-QC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5A5F777-A2DC-1EBC-A240-5532284042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1514512"/>
              </p:ext>
            </p:extLst>
          </p:nvPr>
        </p:nvGraphicFramePr>
        <p:xfrm>
          <a:off x="838200" y="1825625"/>
          <a:ext cx="10515596" cy="4485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969">
                  <a:extLst>
                    <a:ext uri="{9D8B030D-6E8A-4147-A177-3AD203B41FA5}">
                      <a16:colId xmlns:a16="http://schemas.microsoft.com/office/drawing/2014/main" val="2362137147"/>
                    </a:ext>
                  </a:extLst>
                </a:gridCol>
                <a:gridCol w="6365630">
                  <a:extLst>
                    <a:ext uri="{9D8B030D-6E8A-4147-A177-3AD203B41FA5}">
                      <a16:colId xmlns:a16="http://schemas.microsoft.com/office/drawing/2014/main" val="715752957"/>
                    </a:ext>
                  </a:extLst>
                </a:gridCol>
                <a:gridCol w="3047997">
                  <a:extLst>
                    <a:ext uri="{9D8B030D-6E8A-4147-A177-3AD203B41FA5}">
                      <a16:colId xmlns:a16="http://schemas.microsoft.com/office/drawing/2014/main" val="36430320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/>
                          <a:cs typeface="Times New Roman"/>
                        </a:rPr>
                        <a:t>Phase</a:t>
                      </a:r>
                      <a:endParaRPr lang="en-US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/>
                          <a:cs typeface="Times New Roman"/>
                        </a:rPr>
                        <a:t>Target</a:t>
                      </a:r>
                      <a:endParaRPr lang="en-US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/>
                          <a:cs typeface="Times New Roman"/>
                        </a:rPr>
                        <a:t>Status</a:t>
                      </a:r>
                      <a:endParaRPr lang="en-US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2419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/>
                          <a:cs typeface="Times New Roman"/>
                        </a:rPr>
                        <a:t>Phase 0 </a:t>
                      </a:r>
                      <a:endParaRPr lang="en-US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/>
                          <a:cs typeface="Times New Roman"/>
                        </a:rPr>
                        <a:t>Establish a baseline BB84 protocol with no distance in a perfectly ideal scenario</a:t>
                      </a:r>
                      <a:endParaRPr lang="en-US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>
                              <a:lumMod val="76000"/>
                            </a:schemeClr>
                          </a:solidFill>
                          <a:latin typeface="Times New Roman"/>
                          <a:cs typeface="Times New Roman"/>
                        </a:rPr>
                        <a:t>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1172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/>
                          <a:cs typeface="Times New Roman"/>
                        </a:rPr>
                        <a:t>Phase 1</a:t>
                      </a:r>
                      <a:endParaRPr lang="en-US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/>
                          <a:cs typeface="Times New Roman"/>
                        </a:rPr>
                        <a:t>Add the distance in between the two users to evaluate how the distance affects the Key Establishment during QKD</a:t>
                      </a:r>
                      <a:endParaRPr lang="en-US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accent6">
                              <a:lumMod val="76000"/>
                            </a:schemeClr>
                          </a:solidFill>
                          <a:latin typeface="Times New Roman"/>
                          <a:cs typeface="Times New Roman"/>
                        </a:rPr>
                        <a:t>Completed</a:t>
                      </a:r>
                      <a:endParaRPr lang="en-US" sz="1800" b="0" i="0" u="none" strike="noStrike" noProof="0">
                        <a:latin typeface="Times New Roman"/>
                        <a:cs typeface="Times New Roman"/>
                      </a:endParaRPr>
                    </a:p>
                    <a:p>
                      <a:pPr lvl="0">
                        <a:buNone/>
                      </a:pPr>
                      <a:endParaRPr lang="en-US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8606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/>
                          <a:cs typeface="Times New Roman"/>
                        </a:rPr>
                        <a:t>Phase 2</a:t>
                      </a:r>
                      <a:endParaRPr lang="en-US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  <a:cs typeface="Times New Roman"/>
                        </a:rPr>
                        <a:t>Add a single repeater between two users to users to evaluate how </a:t>
                      </a:r>
                      <a:r>
                        <a:rPr lang="en-US">
                          <a:latin typeface="Times New Roman"/>
                          <a:cs typeface="Times New Roman"/>
                        </a:rPr>
                        <a:t>adding a repeater can be better than the results of Phase 1</a:t>
                      </a:r>
                      <a:endParaRPr lang="en-US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accent6">
                              <a:lumMod val="76000"/>
                            </a:schemeClr>
                          </a:solidFill>
                          <a:latin typeface="Times New Roman"/>
                          <a:cs typeface="Times New Roman"/>
                        </a:rPr>
                        <a:t>Completed</a:t>
                      </a:r>
                      <a:endParaRPr lang="en-US" sz="1800" b="0" i="0" u="none" strike="noStrike" noProof="0">
                        <a:latin typeface="Times New Roman"/>
                        <a:cs typeface="Times New Roman"/>
                      </a:endParaRPr>
                    </a:p>
                    <a:p>
                      <a:pPr lvl="0">
                        <a:buNone/>
                      </a:pPr>
                      <a:endParaRPr lang="en-US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8561135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Phase 3</a:t>
                      </a:r>
                      <a:endParaRPr lang="en-US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Add multiple repeaters in a single linear chain to evaluate the </a:t>
                      </a:r>
                      <a:r>
                        <a:rPr lang="en-US" dirty="0">
                          <a:latin typeface="Times New Roman"/>
                          <a:cs typeface="Times New Roman"/>
                        </a:rPr>
                        <a:t>scalability between two users.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Thinking in Process</a:t>
                      </a:r>
                      <a:endParaRPr lang="en-US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440512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Phase 4 </a:t>
                      </a:r>
                      <a:endParaRPr lang="en-US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latin typeface="Times New Roman"/>
                          <a:cs typeface="Times New Roman"/>
                        </a:rPr>
                        <a:t>Add multiple chains of multiple repeaters and a classical channel </a:t>
                      </a:r>
                      <a:r>
                        <a:rPr lang="en-US">
                          <a:latin typeface="Times New Roman"/>
                          <a:cs typeface="Times New Roman"/>
                        </a:rPr>
                        <a:t>to authenticate and route the entanglement. </a:t>
                      </a:r>
                      <a:endParaRPr lang="en-US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Not started</a:t>
                      </a:r>
                      <a:endParaRPr lang="en-US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9989429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Phase 5 </a:t>
                      </a:r>
                      <a:endParaRPr lang="en-US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latin typeface="Times New Roman"/>
                          <a:cs typeface="Times New Roman"/>
                        </a:rPr>
                        <a:t>Add 2 more users to measure the requirements of quantum memory, queue length and available resources and stress test the </a:t>
                      </a:r>
                      <a:r>
                        <a:rPr lang="en-US">
                          <a:latin typeface="Times New Roman"/>
                          <a:cs typeface="Times New Roman"/>
                        </a:rPr>
                        <a:t>system.</a:t>
                      </a:r>
                      <a:endParaRPr lang="en-US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Not Started</a:t>
                      </a:r>
                      <a:endParaRPr lang="en-US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457771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CC228CF-80EB-BCD8-E03F-61D9B60260C3}"/>
              </a:ext>
            </a:extLst>
          </p:cNvPr>
          <p:cNvSpPr txBox="1"/>
          <p:nvPr/>
        </p:nvSpPr>
        <p:spPr>
          <a:xfrm>
            <a:off x="9132186" y="6320464"/>
            <a:ext cx="379227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Times New Roman"/>
                <a:cs typeface="Times New Roman"/>
              </a:rPr>
              <a:t>Vishesh Goyal - </a:t>
            </a:r>
            <a:r>
              <a:rPr lang="en-US" dirty="0">
                <a:latin typeface="Times New Roman"/>
                <a:cs typeface="Times New Roman"/>
                <a:hlinkClick r:id="rId2"/>
              </a:rPr>
              <a:t>VisheshVerse</a:t>
            </a:r>
          </a:p>
        </p:txBody>
      </p:sp>
    </p:spTree>
    <p:extLst>
      <p:ext uri="{BB962C8B-B14F-4D97-AF65-F5344CB8AC3E}">
        <p14:creationId xmlns:p14="http://schemas.microsoft.com/office/powerpoint/2010/main" val="2154040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855A890-B60B-4670-9DC2-69DC05015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5AAECB-9504-E4AD-B200-A177B091D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467" y="2023110"/>
            <a:ext cx="3147579" cy="282365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>
                <a:latin typeface="Times New Roman"/>
                <a:cs typeface="Times New Roman"/>
              </a:rPr>
              <a:t>Results of Phase 1 NARAD-QC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22480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042549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283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BC54B3-5092-4616-89C4-5F0604B614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4251" y="946384"/>
            <a:ext cx="3703320" cy="23979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3F7DCCB-37A1-9410-065E-F5ECB855C2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7572" y="946384"/>
            <a:ext cx="3703320" cy="23979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4935DE-9202-6260-6FEC-CB21EAC008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4251" y="3632524"/>
            <a:ext cx="3703320" cy="23886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0CE05E-B8D0-3030-A315-4D26CBD9D8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2998" y="3637152"/>
            <a:ext cx="3703320" cy="23793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0F3BEC4-0D41-CD78-E505-9E6FED9C3F33}"/>
              </a:ext>
            </a:extLst>
          </p:cNvPr>
          <p:cNvSpPr txBox="1"/>
          <p:nvPr/>
        </p:nvSpPr>
        <p:spPr>
          <a:xfrm>
            <a:off x="9132186" y="6320464"/>
            <a:ext cx="379227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Times New Roman"/>
                <a:cs typeface="Times New Roman"/>
              </a:rPr>
              <a:t>Vishesh Goyal - </a:t>
            </a:r>
            <a:r>
              <a:rPr lang="en-US" dirty="0">
                <a:latin typeface="Times New Roman"/>
                <a:cs typeface="Times New Roman"/>
                <a:hlinkClick r:id="rId6"/>
              </a:rPr>
              <a:t>VisheshVerse</a:t>
            </a:r>
          </a:p>
        </p:txBody>
      </p:sp>
    </p:spTree>
    <p:extLst>
      <p:ext uri="{BB962C8B-B14F-4D97-AF65-F5344CB8AC3E}">
        <p14:creationId xmlns:p14="http://schemas.microsoft.com/office/powerpoint/2010/main" val="3683135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0855A890-B60B-4670-9DC2-69DC05015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DAB157-6A70-D765-1C58-60D48552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467" y="2023110"/>
            <a:ext cx="2940271" cy="282365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>
                <a:latin typeface="Times New Roman"/>
                <a:cs typeface="Times New Roman"/>
              </a:rPr>
              <a:t>Results of Phase 2 NARAD-QC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22480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042549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283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C0C5AF-BD88-F92A-BC99-0BDD8AD28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4251" y="951013"/>
            <a:ext cx="3703320" cy="23886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7E9FCA-5970-5648-D0AA-3B394BDC2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7572" y="955642"/>
            <a:ext cx="3703320" cy="237938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AC1C99B-0F0E-E9C2-402B-EA3E1C1632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4251" y="3637153"/>
            <a:ext cx="3703320" cy="23793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282EAB6-BF2D-98BA-D937-8FCD288C49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2998" y="3637152"/>
            <a:ext cx="3703320" cy="23793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6ABBE1F-A2C6-071D-D661-9B21AA37F1C9}"/>
              </a:ext>
            </a:extLst>
          </p:cNvPr>
          <p:cNvSpPr txBox="1"/>
          <p:nvPr/>
        </p:nvSpPr>
        <p:spPr>
          <a:xfrm>
            <a:off x="9132186" y="6320464"/>
            <a:ext cx="379227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Times New Roman"/>
                <a:cs typeface="Times New Roman"/>
              </a:rPr>
              <a:t>Vishesh Goyal - </a:t>
            </a:r>
            <a:r>
              <a:rPr lang="en-US" dirty="0">
                <a:latin typeface="Times New Roman"/>
                <a:cs typeface="Times New Roman"/>
                <a:hlinkClick r:id="rId6"/>
              </a:rPr>
              <a:t>VisheshVerse</a:t>
            </a:r>
          </a:p>
        </p:txBody>
      </p:sp>
    </p:spTree>
    <p:extLst>
      <p:ext uri="{BB962C8B-B14F-4D97-AF65-F5344CB8AC3E}">
        <p14:creationId xmlns:p14="http://schemas.microsoft.com/office/powerpoint/2010/main" val="3299687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NARAD - QC</vt:lpstr>
      <vt:lpstr>The Question</vt:lpstr>
      <vt:lpstr>The Proposed Solution – NARAD-QC</vt:lpstr>
      <vt:lpstr>The Process of NARAD-QC</vt:lpstr>
      <vt:lpstr>The Final Expected Model of NARAD-QC</vt:lpstr>
      <vt:lpstr>The Phase Plan NARAD-QC</vt:lpstr>
      <vt:lpstr>Results of Phase 1 NARAD-QC</vt:lpstr>
      <vt:lpstr>Results of Phase 2 NARAD-QC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331</cp:revision>
  <dcterms:created xsi:type="dcterms:W3CDTF">2026-07-09T21:05:39Z</dcterms:created>
  <dcterms:modified xsi:type="dcterms:W3CDTF">2026-07-09T23:03:50Z</dcterms:modified>
</cp:coreProperties>
</file>